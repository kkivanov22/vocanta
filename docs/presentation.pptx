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8"/>
  </p:notesMasterIdLst>
  <p:sldIdLst>
    <p:sldId id="256" r:id="rId2"/>
    <p:sldId id="258" r:id="rId3"/>
    <p:sldId id="261" r:id="rId4"/>
    <p:sldId id="262" r:id="rId5"/>
    <p:sldId id="263" r:id="rId6"/>
    <p:sldId id="266" r:id="rId7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Poppins SemiBold" panose="000007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293B59-1AED-41E6-9B69-4A7151473C62}">
  <a:tblStyle styleId="{5D293B59-1AED-41E6-9B69-4A7151473C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6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d20c5dacb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d20c5dacb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196d4d0dd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196d4d0dd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19685e331d_0_17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19685e331d_0_17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196d4d0dd9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196d4d0dd9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d20c5dacb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d20c5dacb7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-1720358">
            <a:off x="-795996" y="-869105"/>
            <a:ext cx="3728393" cy="3728393"/>
          </a:xfrm>
          <a:prstGeom prst="ellipse">
            <a:avLst/>
          </a:prstGeom>
          <a:gradFill>
            <a:gsLst>
              <a:gs pos="0">
                <a:schemeClr val="accent2">
                  <a:alpha val="20540"/>
                </a:schemeClr>
              </a:gs>
              <a:gs pos="100000">
                <a:srgbClr val="737373">
                  <a:alpha val="0"/>
                  <a:alpha val="2054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337999" y="1010498"/>
            <a:ext cx="6468000" cy="184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464116" y="3184649"/>
            <a:ext cx="4213200" cy="3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713075" y="4616554"/>
            <a:ext cx="4557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3331775" y="4623854"/>
            <a:ext cx="24804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3"/>
          </p:nvPr>
        </p:nvSpPr>
        <p:spPr>
          <a:xfrm>
            <a:off x="7332925" y="4623854"/>
            <a:ext cx="10980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cxnSp>
        <p:nvCxnSpPr>
          <p:cNvPr id="16" name="Google Shape;16;p2"/>
          <p:cNvCxnSpPr/>
          <p:nvPr/>
        </p:nvCxnSpPr>
        <p:spPr>
          <a:xfrm>
            <a:off x="711850" y="4610125"/>
            <a:ext cx="7720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 rot="-1720358">
            <a:off x="-923271" y="-1116905"/>
            <a:ext cx="3728393" cy="3728393"/>
          </a:xfrm>
          <a:prstGeom prst="ellipse">
            <a:avLst/>
          </a:prstGeom>
          <a:gradFill>
            <a:gsLst>
              <a:gs pos="0">
                <a:schemeClr val="accent2">
                  <a:alpha val="20540"/>
                </a:schemeClr>
              </a:gs>
              <a:gs pos="100000">
                <a:srgbClr val="737373">
                  <a:alpha val="0"/>
                  <a:alpha val="2054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713075" y="4616554"/>
            <a:ext cx="4557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7"/>
          <p:cNvCxnSpPr/>
          <p:nvPr/>
        </p:nvCxnSpPr>
        <p:spPr>
          <a:xfrm>
            <a:off x="711850" y="4610125"/>
            <a:ext cx="7720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Google Shape;57;p7"/>
          <p:cNvSpPr txBox="1">
            <a:spLocks noGrp="1"/>
          </p:cNvSpPr>
          <p:nvPr>
            <p:ph type="subTitle" idx="1"/>
          </p:nvPr>
        </p:nvSpPr>
        <p:spPr>
          <a:xfrm>
            <a:off x="3331775" y="4623854"/>
            <a:ext cx="24804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ubTitle" idx="2"/>
          </p:nvPr>
        </p:nvSpPr>
        <p:spPr>
          <a:xfrm>
            <a:off x="7332925" y="4623854"/>
            <a:ext cx="10980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713075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ubTitle" idx="3"/>
          </p:nvPr>
        </p:nvSpPr>
        <p:spPr>
          <a:xfrm>
            <a:off x="713075" y="1746850"/>
            <a:ext cx="4155300" cy="21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 rot="2324845" flipH="1">
            <a:off x="4768463" y="-1343820"/>
            <a:ext cx="5393295" cy="5393061"/>
          </a:xfrm>
          <a:prstGeom prst="ellipse">
            <a:avLst/>
          </a:prstGeom>
          <a:gradFill>
            <a:gsLst>
              <a:gs pos="0">
                <a:schemeClr val="accent2">
                  <a:alpha val="20540"/>
                </a:schemeClr>
              </a:gs>
              <a:gs pos="100000">
                <a:srgbClr val="737373">
                  <a:alpha val="0"/>
                  <a:alpha val="2054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1388100" y="1019456"/>
            <a:ext cx="6367800" cy="25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713075" y="4616554"/>
            <a:ext cx="4557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ubTitle" idx="1"/>
          </p:nvPr>
        </p:nvSpPr>
        <p:spPr>
          <a:xfrm>
            <a:off x="3331775" y="4623854"/>
            <a:ext cx="24804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ubTitle" idx="2"/>
          </p:nvPr>
        </p:nvSpPr>
        <p:spPr>
          <a:xfrm>
            <a:off x="7332925" y="4623854"/>
            <a:ext cx="10980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cxnSp>
        <p:nvCxnSpPr>
          <p:cNvPr id="67" name="Google Shape;67;p8"/>
          <p:cNvCxnSpPr/>
          <p:nvPr/>
        </p:nvCxnSpPr>
        <p:spPr>
          <a:xfrm>
            <a:off x="711850" y="4610125"/>
            <a:ext cx="7720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713075" y="4616554"/>
            <a:ext cx="4557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743864" y="3002206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743864" y="3608820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2" hasCustomPrompt="1"/>
          </p:nvPr>
        </p:nvSpPr>
        <p:spPr>
          <a:xfrm>
            <a:off x="1312814" y="2236611"/>
            <a:ext cx="663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3"/>
          </p:nvPr>
        </p:nvSpPr>
        <p:spPr>
          <a:xfrm>
            <a:off x="2693535" y="3002206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4"/>
          </p:nvPr>
        </p:nvSpPr>
        <p:spPr>
          <a:xfrm>
            <a:off x="2693535" y="3608820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5" hasCustomPrompt="1"/>
          </p:nvPr>
        </p:nvSpPr>
        <p:spPr>
          <a:xfrm>
            <a:off x="3262485" y="2236761"/>
            <a:ext cx="663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6"/>
          </p:nvPr>
        </p:nvSpPr>
        <p:spPr>
          <a:xfrm>
            <a:off x="4643207" y="3002206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7"/>
          </p:nvPr>
        </p:nvSpPr>
        <p:spPr>
          <a:xfrm>
            <a:off x="4643207" y="3608820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8" hasCustomPrompt="1"/>
          </p:nvPr>
        </p:nvSpPr>
        <p:spPr>
          <a:xfrm>
            <a:off x="5212157" y="2236611"/>
            <a:ext cx="663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9"/>
          </p:nvPr>
        </p:nvSpPr>
        <p:spPr>
          <a:xfrm>
            <a:off x="6592879" y="3002206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13"/>
          </p:nvPr>
        </p:nvSpPr>
        <p:spPr>
          <a:xfrm>
            <a:off x="6592879" y="3608820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14" hasCustomPrompt="1"/>
          </p:nvPr>
        </p:nvSpPr>
        <p:spPr>
          <a:xfrm>
            <a:off x="7161829" y="2236611"/>
            <a:ext cx="663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5"/>
          </p:nvPr>
        </p:nvSpPr>
        <p:spPr>
          <a:xfrm>
            <a:off x="713075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6"/>
          </p:nvPr>
        </p:nvSpPr>
        <p:spPr>
          <a:xfrm>
            <a:off x="3331775" y="4623854"/>
            <a:ext cx="24804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7"/>
          </p:nvPr>
        </p:nvSpPr>
        <p:spPr>
          <a:xfrm>
            <a:off x="7332925" y="4623854"/>
            <a:ext cx="10980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cxnSp>
        <p:nvCxnSpPr>
          <p:cNvPr id="111" name="Google Shape;111;p13"/>
          <p:cNvCxnSpPr/>
          <p:nvPr/>
        </p:nvCxnSpPr>
        <p:spPr>
          <a:xfrm>
            <a:off x="711850" y="4610125"/>
            <a:ext cx="7720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" name="Google Shape;112;p13"/>
          <p:cNvSpPr/>
          <p:nvPr/>
        </p:nvSpPr>
        <p:spPr>
          <a:xfrm rot="-5400000" flipH="1">
            <a:off x="8505743" y="2254808"/>
            <a:ext cx="2203200" cy="2203200"/>
          </a:xfrm>
          <a:prstGeom prst="ellipse">
            <a:avLst/>
          </a:prstGeom>
          <a:gradFill>
            <a:gsLst>
              <a:gs pos="0">
                <a:srgbClr val="FFFFFF">
                  <a:alpha val="0"/>
                  <a:alpha val="20540"/>
                </a:srgbClr>
              </a:gs>
              <a:gs pos="100000">
                <a:srgbClr val="CC527A">
                  <a:alpha val="2054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 rot="5400000">
            <a:off x="-1490132" y="2254808"/>
            <a:ext cx="2203200" cy="2203200"/>
          </a:xfrm>
          <a:prstGeom prst="ellipse">
            <a:avLst/>
          </a:prstGeom>
          <a:gradFill>
            <a:gsLst>
              <a:gs pos="0">
                <a:srgbClr val="FFFFFF">
                  <a:alpha val="0"/>
                  <a:alpha val="20540"/>
                </a:srgbClr>
              </a:gs>
              <a:gs pos="100000">
                <a:srgbClr val="CC527A">
                  <a:alpha val="2054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8"/>
          <p:cNvSpPr/>
          <p:nvPr/>
        </p:nvSpPr>
        <p:spPr>
          <a:xfrm rot="-8880129">
            <a:off x="7060004" y="-912422"/>
            <a:ext cx="3144441" cy="3144441"/>
          </a:xfrm>
          <a:prstGeom prst="ellipse">
            <a:avLst/>
          </a:prstGeom>
          <a:gradFill>
            <a:gsLst>
              <a:gs pos="0">
                <a:srgbClr val="FFFFFF">
                  <a:alpha val="0"/>
                  <a:alpha val="20540"/>
                </a:srgbClr>
              </a:gs>
              <a:gs pos="100000">
                <a:srgbClr val="CC527A">
                  <a:alpha val="2054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8"/>
          <p:cNvSpPr txBox="1">
            <a:spLocks noGrp="1"/>
          </p:cNvSpPr>
          <p:nvPr>
            <p:ph type="sldNum" idx="12"/>
          </p:nvPr>
        </p:nvSpPr>
        <p:spPr>
          <a:xfrm>
            <a:off x="713075" y="4616554"/>
            <a:ext cx="4557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6" name="Google Shape;156;p18"/>
          <p:cNvCxnSpPr/>
          <p:nvPr/>
        </p:nvCxnSpPr>
        <p:spPr>
          <a:xfrm>
            <a:off x="711850" y="4610125"/>
            <a:ext cx="7720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" name="Google Shape;157;p18"/>
          <p:cNvSpPr txBox="1">
            <a:spLocks noGrp="1"/>
          </p:cNvSpPr>
          <p:nvPr>
            <p:ph type="subTitle" idx="1"/>
          </p:nvPr>
        </p:nvSpPr>
        <p:spPr>
          <a:xfrm>
            <a:off x="3331775" y="4623854"/>
            <a:ext cx="24804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8" name="Google Shape;158;p18"/>
          <p:cNvSpPr txBox="1">
            <a:spLocks noGrp="1"/>
          </p:cNvSpPr>
          <p:nvPr>
            <p:ph type="subTitle" idx="2"/>
          </p:nvPr>
        </p:nvSpPr>
        <p:spPr>
          <a:xfrm>
            <a:off x="7332925" y="4623854"/>
            <a:ext cx="10980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title"/>
          </p:nvPr>
        </p:nvSpPr>
        <p:spPr>
          <a:xfrm>
            <a:off x="713075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subTitle" idx="3"/>
          </p:nvPr>
        </p:nvSpPr>
        <p:spPr>
          <a:xfrm>
            <a:off x="807125" y="3825398"/>
            <a:ext cx="2145600" cy="5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ubTitle" idx="4"/>
          </p:nvPr>
        </p:nvSpPr>
        <p:spPr>
          <a:xfrm>
            <a:off x="807131" y="3375748"/>
            <a:ext cx="2145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subTitle" idx="5"/>
          </p:nvPr>
        </p:nvSpPr>
        <p:spPr>
          <a:xfrm>
            <a:off x="3493925" y="3825398"/>
            <a:ext cx="2145600" cy="5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subTitle" idx="6"/>
          </p:nvPr>
        </p:nvSpPr>
        <p:spPr>
          <a:xfrm>
            <a:off x="3493931" y="3375748"/>
            <a:ext cx="2145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subTitle" idx="7"/>
          </p:nvPr>
        </p:nvSpPr>
        <p:spPr>
          <a:xfrm>
            <a:off x="6180725" y="3825398"/>
            <a:ext cx="2145600" cy="5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subTitle" idx="8"/>
          </p:nvPr>
        </p:nvSpPr>
        <p:spPr>
          <a:xfrm>
            <a:off x="6180731" y="3375748"/>
            <a:ext cx="2145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/>
          <p:nvPr/>
        </p:nvSpPr>
        <p:spPr>
          <a:xfrm rot="-7618588">
            <a:off x="4834560" y="-1783655"/>
            <a:ext cx="5322309" cy="5322309"/>
          </a:xfrm>
          <a:prstGeom prst="ellipse">
            <a:avLst/>
          </a:prstGeom>
          <a:gradFill>
            <a:gsLst>
              <a:gs pos="0">
                <a:srgbClr val="FFFFFF">
                  <a:alpha val="0"/>
                  <a:alpha val="20540"/>
                </a:srgbClr>
              </a:gs>
              <a:gs pos="100000">
                <a:srgbClr val="CC527A">
                  <a:alpha val="2054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3"/>
          <p:cNvSpPr txBox="1">
            <a:spLocks noGrp="1"/>
          </p:cNvSpPr>
          <p:nvPr>
            <p:ph type="sldNum" idx="12"/>
          </p:nvPr>
        </p:nvSpPr>
        <p:spPr>
          <a:xfrm>
            <a:off x="713075" y="4616554"/>
            <a:ext cx="4557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23"/>
          <p:cNvCxnSpPr/>
          <p:nvPr/>
        </p:nvCxnSpPr>
        <p:spPr>
          <a:xfrm>
            <a:off x="711850" y="4610125"/>
            <a:ext cx="7720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" name="Google Shape;232;p23"/>
          <p:cNvSpPr txBox="1">
            <a:spLocks noGrp="1"/>
          </p:cNvSpPr>
          <p:nvPr>
            <p:ph type="subTitle" idx="1"/>
          </p:nvPr>
        </p:nvSpPr>
        <p:spPr>
          <a:xfrm>
            <a:off x="3331775" y="4623854"/>
            <a:ext cx="24804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3" name="Google Shape;233;p23"/>
          <p:cNvSpPr txBox="1">
            <a:spLocks noGrp="1"/>
          </p:cNvSpPr>
          <p:nvPr>
            <p:ph type="subTitle" idx="2"/>
          </p:nvPr>
        </p:nvSpPr>
        <p:spPr>
          <a:xfrm>
            <a:off x="7332925" y="4623854"/>
            <a:ext cx="10980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4" name="Google Shape;234;p23"/>
          <p:cNvSpPr txBox="1">
            <a:spLocks noGrp="1"/>
          </p:cNvSpPr>
          <p:nvPr>
            <p:ph type="title"/>
          </p:nvPr>
        </p:nvSpPr>
        <p:spPr>
          <a:xfrm>
            <a:off x="5043426" y="1371816"/>
            <a:ext cx="27159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3"/>
          <p:cNvSpPr txBox="1">
            <a:spLocks noGrp="1"/>
          </p:cNvSpPr>
          <p:nvPr>
            <p:ph type="subTitle" idx="3"/>
          </p:nvPr>
        </p:nvSpPr>
        <p:spPr>
          <a:xfrm>
            <a:off x="5043425" y="2062975"/>
            <a:ext cx="2715900" cy="117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/>
          <p:nvPr/>
        </p:nvSpPr>
        <p:spPr>
          <a:xfrm rot="7618588" flipH="1">
            <a:off x="-1147397" y="-1622169"/>
            <a:ext cx="5322309" cy="5322309"/>
          </a:xfrm>
          <a:prstGeom prst="ellipse">
            <a:avLst/>
          </a:prstGeom>
          <a:gradFill>
            <a:gsLst>
              <a:gs pos="0">
                <a:srgbClr val="FFFFFF">
                  <a:alpha val="0"/>
                  <a:alpha val="20540"/>
                </a:srgbClr>
              </a:gs>
              <a:gs pos="100000">
                <a:srgbClr val="CC527A">
                  <a:alpha val="2054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"/>
          <p:cNvSpPr/>
          <p:nvPr/>
        </p:nvSpPr>
        <p:spPr>
          <a:xfrm rot="-6962841">
            <a:off x="-1235620" y="3067256"/>
            <a:ext cx="3073690" cy="3073690"/>
          </a:xfrm>
          <a:prstGeom prst="ellipse">
            <a:avLst/>
          </a:prstGeom>
          <a:gradFill>
            <a:gsLst>
              <a:gs pos="0">
                <a:schemeClr val="accent2">
                  <a:alpha val="20540"/>
                </a:schemeClr>
              </a:gs>
              <a:gs pos="100000">
                <a:srgbClr val="737373">
                  <a:alpha val="0"/>
                  <a:alpha val="2054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100000">
              <a:srgbClr val="CC527A"/>
            </a:gs>
          </a:gsLst>
          <a:lin ang="54007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075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SemiBold"/>
              <a:buNone/>
              <a:defRPr sz="3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SemiBold"/>
              <a:buNone/>
              <a:defRPr sz="3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SemiBold"/>
              <a:buNone/>
              <a:defRPr sz="3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SemiBold"/>
              <a:buNone/>
              <a:defRPr sz="3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SemiBold"/>
              <a:buNone/>
              <a:defRPr sz="3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SemiBold"/>
              <a:buNone/>
              <a:defRPr sz="3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SemiBold"/>
              <a:buNone/>
              <a:defRPr sz="3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SemiBold"/>
              <a:buNone/>
              <a:defRPr sz="3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SemiBold"/>
              <a:buNone/>
              <a:defRPr sz="3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075" y="1279575"/>
            <a:ext cx="7717800" cy="3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○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■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○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■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○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■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13075" y="4616554"/>
            <a:ext cx="455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8" r:id="rId4"/>
    <p:sldLayoutId id="2147483659" r:id="rId5"/>
    <p:sldLayoutId id="2147483664" r:id="rId6"/>
    <p:sldLayoutId id="2147483669" r:id="rId7"/>
    <p:sldLayoutId id="2147483676" r:id="rId8"/>
    <p:sldLayoutId id="214748367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5"/>
          <p:cNvSpPr txBox="1">
            <a:spLocks noGrp="1"/>
          </p:cNvSpPr>
          <p:nvPr>
            <p:ph type="ctrTitle"/>
          </p:nvPr>
        </p:nvSpPr>
        <p:spPr>
          <a:xfrm>
            <a:off x="1337999" y="1010498"/>
            <a:ext cx="6468000" cy="184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lt1"/>
                </a:solidFill>
              </a:rPr>
              <a:t>Vocanta</a:t>
            </a:r>
            <a:endParaRPr sz="4500" dirty="0">
              <a:solidFill>
                <a:schemeClr val="lt1"/>
              </a:solidFill>
            </a:endParaRPr>
          </a:p>
        </p:txBody>
      </p:sp>
      <p:sp>
        <p:nvSpPr>
          <p:cNvPr id="302" name="Google Shape;302;p35"/>
          <p:cNvSpPr txBox="1">
            <a:spLocks noGrp="1"/>
          </p:cNvSpPr>
          <p:nvPr>
            <p:ph type="subTitle" idx="3"/>
          </p:nvPr>
        </p:nvSpPr>
        <p:spPr>
          <a:xfrm>
            <a:off x="7332925" y="4623854"/>
            <a:ext cx="10980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2026</a:t>
            </a:r>
            <a:endParaRPr dirty="0"/>
          </a:p>
        </p:txBody>
      </p:sp>
      <p:sp>
        <p:nvSpPr>
          <p:cNvPr id="303" name="Google Shape;303;p35"/>
          <p:cNvSpPr txBox="1">
            <a:spLocks noGrp="1"/>
          </p:cNvSpPr>
          <p:nvPr>
            <p:ph type="sldNum" idx="12"/>
          </p:nvPr>
        </p:nvSpPr>
        <p:spPr>
          <a:xfrm>
            <a:off x="713075" y="4616554"/>
            <a:ext cx="4557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066B9-D2B2-8BCF-97EE-DDA0F2E43CD7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rPr lang="en-US" dirty="0"/>
              <a:t>Kaloyan Ivanov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7"/>
          <p:cNvSpPr/>
          <p:nvPr/>
        </p:nvSpPr>
        <p:spPr>
          <a:xfrm>
            <a:off x="2693535" y="1677875"/>
            <a:ext cx="1801800" cy="2745900"/>
          </a:xfrm>
          <a:prstGeom prst="roundRect">
            <a:avLst>
              <a:gd name="adj" fmla="val 16667"/>
            </a:avLst>
          </a:prstGeom>
          <a:solidFill>
            <a:srgbClr val="FFFFFF">
              <a:alpha val="20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7"/>
          <p:cNvSpPr/>
          <p:nvPr/>
        </p:nvSpPr>
        <p:spPr>
          <a:xfrm>
            <a:off x="4643207" y="1677875"/>
            <a:ext cx="1801800" cy="2745900"/>
          </a:xfrm>
          <a:prstGeom prst="roundRect">
            <a:avLst>
              <a:gd name="adj" fmla="val 16667"/>
            </a:avLst>
          </a:prstGeom>
          <a:solidFill>
            <a:srgbClr val="FFFFFF">
              <a:alpha val="20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7"/>
          <p:cNvSpPr/>
          <p:nvPr/>
        </p:nvSpPr>
        <p:spPr>
          <a:xfrm>
            <a:off x="6592879" y="1677875"/>
            <a:ext cx="1801800" cy="2745900"/>
          </a:xfrm>
          <a:prstGeom prst="roundRect">
            <a:avLst>
              <a:gd name="adj" fmla="val 16667"/>
            </a:avLst>
          </a:prstGeom>
          <a:solidFill>
            <a:srgbClr val="FFFFFF">
              <a:alpha val="20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7"/>
          <p:cNvSpPr/>
          <p:nvPr/>
        </p:nvSpPr>
        <p:spPr>
          <a:xfrm>
            <a:off x="743864" y="1677875"/>
            <a:ext cx="1801800" cy="2745900"/>
          </a:xfrm>
          <a:prstGeom prst="roundRect">
            <a:avLst>
              <a:gd name="adj" fmla="val 16667"/>
            </a:avLst>
          </a:prstGeom>
          <a:solidFill>
            <a:srgbClr val="FFFFFF">
              <a:alpha val="20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7"/>
          <p:cNvSpPr/>
          <p:nvPr/>
        </p:nvSpPr>
        <p:spPr>
          <a:xfrm>
            <a:off x="1230764" y="2051361"/>
            <a:ext cx="828000" cy="82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7"/>
          <p:cNvSpPr/>
          <p:nvPr/>
        </p:nvSpPr>
        <p:spPr>
          <a:xfrm>
            <a:off x="3180435" y="2051361"/>
            <a:ext cx="828000" cy="82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7"/>
          <p:cNvSpPr/>
          <p:nvPr/>
        </p:nvSpPr>
        <p:spPr>
          <a:xfrm>
            <a:off x="5130107" y="2051361"/>
            <a:ext cx="828000" cy="82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7"/>
          <p:cNvSpPr/>
          <p:nvPr/>
        </p:nvSpPr>
        <p:spPr>
          <a:xfrm>
            <a:off x="7079779" y="2051361"/>
            <a:ext cx="828000" cy="82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7"/>
          <p:cNvSpPr txBox="1">
            <a:spLocks noGrp="1"/>
          </p:cNvSpPr>
          <p:nvPr>
            <p:ph type="title"/>
          </p:nvPr>
        </p:nvSpPr>
        <p:spPr>
          <a:xfrm>
            <a:off x="743864" y="3002206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vs solution</a:t>
            </a:r>
            <a:endParaRPr/>
          </a:p>
        </p:txBody>
      </p:sp>
      <p:sp>
        <p:nvSpPr>
          <p:cNvPr id="327" name="Google Shape;327;p37"/>
          <p:cNvSpPr txBox="1">
            <a:spLocks noGrp="1"/>
          </p:cNvSpPr>
          <p:nvPr>
            <p:ph type="title" idx="2"/>
          </p:nvPr>
        </p:nvSpPr>
        <p:spPr>
          <a:xfrm>
            <a:off x="1312814" y="2236611"/>
            <a:ext cx="663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title" idx="3"/>
          </p:nvPr>
        </p:nvSpPr>
        <p:spPr>
          <a:xfrm>
            <a:off x="2693535" y="3002206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Technologies</a:t>
            </a:r>
            <a:endParaRPr dirty="0"/>
          </a:p>
        </p:txBody>
      </p:sp>
      <p:sp>
        <p:nvSpPr>
          <p:cNvPr id="330" name="Google Shape;330;p37"/>
          <p:cNvSpPr txBox="1">
            <a:spLocks noGrp="1"/>
          </p:cNvSpPr>
          <p:nvPr>
            <p:ph type="title" idx="5"/>
          </p:nvPr>
        </p:nvSpPr>
        <p:spPr>
          <a:xfrm>
            <a:off x="3262485" y="2236761"/>
            <a:ext cx="663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31" name="Google Shape;331;p37"/>
          <p:cNvSpPr txBox="1">
            <a:spLocks noGrp="1"/>
          </p:cNvSpPr>
          <p:nvPr>
            <p:ph type="title" idx="6"/>
          </p:nvPr>
        </p:nvSpPr>
        <p:spPr>
          <a:xfrm>
            <a:off x="4643207" y="3002206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Architectual</a:t>
            </a:r>
            <a:br>
              <a:rPr lang="en" dirty="0"/>
            </a:br>
            <a:r>
              <a:rPr lang="en" dirty="0"/>
              <a:t>Diagram</a:t>
            </a:r>
            <a:endParaRPr dirty="0"/>
          </a:p>
        </p:txBody>
      </p:sp>
      <p:sp>
        <p:nvSpPr>
          <p:cNvPr id="333" name="Google Shape;333;p37"/>
          <p:cNvSpPr txBox="1">
            <a:spLocks noGrp="1"/>
          </p:cNvSpPr>
          <p:nvPr>
            <p:ph type="title" idx="8"/>
          </p:nvPr>
        </p:nvSpPr>
        <p:spPr>
          <a:xfrm>
            <a:off x="5212157" y="2236611"/>
            <a:ext cx="663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34" name="Google Shape;334;p37"/>
          <p:cNvSpPr txBox="1">
            <a:spLocks noGrp="1"/>
          </p:cNvSpPr>
          <p:nvPr>
            <p:ph type="title" idx="9"/>
          </p:nvPr>
        </p:nvSpPr>
        <p:spPr>
          <a:xfrm>
            <a:off x="6592879" y="3002206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/>
          </a:p>
        </p:txBody>
      </p:sp>
      <p:sp>
        <p:nvSpPr>
          <p:cNvPr id="336" name="Google Shape;336;p37"/>
          <p:cNvSpPr txBox="1">
            <a:spLocks noGrp="1"/>
          </p:cNvSpPr>
          <p:nvPr>
            <p:ph type="title" idx="14"/>
          </p:nvPr>
        </p:nvSpPr>
        <p:spPr>
          <a:xfrm>
            <a:off x="7161829" y="2236611"/>
            <a:ext cx="663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37" name="Google Shape;337;p37"/>
          <p:cNvSpPr txBox="1">
            <a:spLocks noGrp="1"/>
          </p:cNvSpPr>
          <p:nvPr>
            <p:ph type="title" idx="15"/>
          </p:nvPr>
        </p:nvSpPr>
        <p:spPr>
          <a:xfrm>
            <a:off x="713075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38" name="Google Shape;338;p37"/>
          <p:cNvSpPr txBox="1">
            <a:spLocks noGrp="1"/>
          </p:cNvSpPr>
          <p:nvPr>
            <p:ph type="sldNum" idx="12"/>
          </p:nvPr>
        </p:nvSpPr>
        <p:spPr>
          <a:xfrm>
            <a:off x="713075" y="4616554"/>
            <a:ext cx="4557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39" name="Google Shape;339;p37"/>
          <p:cNvSpPr txBox="1">
            <a:spLocks noGrp="1"/>
          </p:cNvSpPr>
          <p:nvPr>
            <p:ph type="subTitle" idx="16"/>
          </p:nvPr>
        </p:nvSpPr>
        <p:spPr>
          <a:xfrm>
            <a:off x="3331775" y="4623854"/>
            <a:ext cx="24804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Product vision | Pitch deck</a:t>
            </a:r>
            <a:endParaRPr dirty="0"/>
          </a:p>
        </p:txBody>
      </p:sp>
      <p:sp>
        <p:nvSpPr>
          <p:cNvPr id="340" name="Google Shape;340;p37"/>
          <p:cNvSpPr txBox="1">
            <a:spLocks noGrp="1"/>
          </p:cNvSpPr>
          <p:nvPr>
            <p:ph type="subTitle" idx="17"/>
          </p:nvPr>
        </p:nvSpPr>
        <p:spPr>
          <a:xfrm>
            <a:off x="7332925" y="4623854"/>
            <a:ext cx="10980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2026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0"/>
          <p:cNvSpPr txBox="1">
            <a:spLocks noGrp="1"/>
          </p:cNvSpPr>
          <p:nvPr>
            <p:ph type="sldNum" idx="12"/>
          </p:nvPr>
        </p:nvSpPr>
        <p:spPr>
          <a:xfrm>
            <a:off x="713075" y="4616554"/>
            <a:ext cx="4557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367" name="Google Shape;367;p40"/>
          <p:cNvSpPr txBox="1">
            <a:spLocks noGrp="1"/>
          </p:cNvSpPr>
          <p:nvPr>
            <p:ph type="subTitle" idx="3"/>
          </p:nvPr>
        </p:nvSpPr>
        <p:spPr>
          <a:xfrm>
            <a:off x="713075" y="1746850"/>
            <a:ext cx="4155300" cy="21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 Problem</a:t>
            </a:r>
          </a:p>
          <a:p>
            <a:pPr marL="0" lvl="0" indent="0">
              <a:buNone/>
            </a:pPr>
            <a:r>
              <a:rPr lang="en-US" dirty="0"/>
              <a:t>- Poor keyword-based job matching  </a:t>
            </a:r>
          </a:p>
          <a:p>
            <a:pPr marL="0" lvl="0" indent="0">
              <a:buNone/>
            </a:pPr>
            <a:r>
              <a:rPr lang="en-US" dirty="0"/>
              <a:t>- Too many irrelevant candidates  </a:t>
            </a:r>
          </a:p>
          <a:p>
            <a:pPr marL="0" lvl="0" indent="0">
              <a:buNone/>
            </a:pPr>
            <a:r>
              <a:rPr lang="en-US" dirty="0"/>
              <a:t>- Manual CV screening is slow  </a:t>
            </a:r>
          </a:p>
          <a:p>
            <a:pPr marL="0" lvl="0" indent="0">
              <a:buNone/>
            </a:pPr>
            <a:r>
              <a:rPr lang="en-US" dirty="0"/>
              <a:t>- No real understanding of skills/experience  </a:t>
            </a:r>
          </a:p>
          <a:p>
            <a:pPr marL="0" lvl="0" indent="0">
              <a:buNone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 Solution (</a:t>
            </a:r>
            <a:r>
              <a:rPr lang="en-US" dirty="0" err="1"/>
              <a:t>Vocanta</a:t>
            </a:r>
            <a:r>
              <a:rPr lang="en-US" dirty="0"/>
              <a:t>)</a:t>
            </a:r>
          </a:p>
          <a:p>
            <a:pPr marL="0" lvl="0" indent="0">
              <a:buNone/>
            </a:pPr>
            <a:r>
              <a:rPr lang="en-US" dirty="0"/>
              <a:t>- Semantic search (AI + embeddings)  </a:t>
            </a:r>
          </a:p>
          <a:p>
            <a:pPr marL="0" lvl="0" indent="0">
              <a:buNone/>
            </a:pPr>
            <a:r>
              <a:rPr lang="en-US" dirty="0"/>
              <a:t>- Smart job &amp; candidate recommendations  </a:t>
            </a:r>
          </a:p>
          <a:p>
            <a:pPr marL="0" lvl="0" indent="0">
              <a:buNone/>
            </a:pPr>
            <a:r>
              <a:rPr lang="en-US" dirty="0"/>
              <a:t>- Automated filtering and ranking  </a:t>
            </a:r>
          </a:p>
          <a:p>
            <a:pPr marL="0" lvl="0" indent="0">
              <a:buNone/>
            </a:pPr>
            <a:r>
              <a:rPr lang="en-US" dirty="0"/>
              <a:t>- Combines PostgreSQL + </a:t>
            </a:r>
            <a:r>
              <a:rPr lang="en-US" dirty="0" err="1"/>
              <a:t>Weaviate</a:t>
            </a:r>
            <a:r>
              <a:rPr lang="en-US" dirty="0"/>
              <a:t> + Redis for better results </a:t>
            </a:r>
            <a:endParaRPr dirty="0"/>
          </a:p>
        </p:txBody>
      </p:sp>
      <p:sp>
        <p:nvSpPr>
          <p:cNvPr id="368" name="Google Shape;368;p40"/>
          <p:cNvSpPr txBox="1">
            <a:spLocks noGrp="1"/>
          </p:cNvSpPr>
          <p:nvPr>
            <p:ph type="subTitle" idx="2"/>
          </p:nvPr>
        </p:nvSpPr>
        <p:spPr>
          <a:xfrm>
            <a:off x="7332925" y="4623854"/>
            <a:ext cx="10980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2026</a:t>
            </a:r>
            <a:endParaRPr dirty="0"/>
          </a:p>
        </p:txBody>
      </p:sp>
      <p:sp>
        <p:nvSpPr>
          <p:cNvPr id="370" name="Google Shape;370;p40"/>
          <p:cNvSpPr txBox="1">
            <a:spLocks noGrp="1"/>
          </p:cNvSpPr>
          <p:nvPr>
            <p:ph type="subTitle" idx="1"/>
          </p:nvPr>
        </p:nvSpPr>
        <p:spPr>
          <a:xfrm>
            <a:off x="3331775" y="4623854"/>
            <a:ext cx="24804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vision | Pitch deck</a:t>
            </a:r>
            <a:endParaRPr/>
          </a:p>
        </p:txBody>
      </p:sp>
      <p:pic>
        <p:nvPicPr>
          <p:cNvPr id="371" name="Google Shape;371;p40"/>
          <p:cNvPicPr preferRelativeResize="0"/>
          <p:nvPr/>
        </p:nvPicPr>
        <p:blipFill rotWithShape="1">
          <a:blip r:embed="rId3">
            <a:alphaModFix/>
          </a:blip>
          <a:srcRect l="27096" r="992"/>
          <a:stretch/>
        </p:blipFill>
        <p:spPr>
          <a:xfrm>
            <a:off x="5210400" y="1117500"/>
            <a:ext cx="2910600" cy="2908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2" name="Google Shape;372;p40"/>
          <p:cNvSpPr/>
          <p:nvPr/>
        </p:nvSpPr>
        <p:spPr>
          <a:xfrm rot="6775818" flipH="1">
            <a:off x="6318025" y="606215"/>
            <a:ext cx="3036875" cy="3036875"/>
          </a:xfrm>
          <a:prstGeom prst="ellipse">
            <a:avLst/>
          </a:prstGeom>
          <a:gradFill>
            <a:gsLst>
              <a:gs pos="0">
                <a:schemeClr val="accent2">
                  <a:alpha val="20540"/>
                </a:schemeClr>
              </a:gs>
              <a:gs pos="100000">
                <a:srgbClr val="737373">
                  <a:alpha val="0"/>
                  <a:alpha val="2054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77;p41">
            <a:extLst>
              <a:ext uri="{FF2B5EF4-FFF2-40B4-BE49-F238E27FC236}">
                <a16:creationId xmlns:a16="http://schemas.microsoft.com/office/drawing/2014/main" id="{EB7D0FA5-540A-A689-D498-BF7E873760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075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vs solution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1"/>
          <p:cNvSpPr txBox="1">
            <a:spLocks noGrp="1"/>
          </p:cNvSpPr>
          <p:nvPr>
            <p:ph type="title"/>
          </p:nvPr>
        </p:nvSpPr>
        <p:spPr>
          <a:xfrm>
            <a:off x="713075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Technologies</a:t>
            </a:r>
            <a:endParaRPr dirty="0"/>
          </a:p>
        </p:txBody>
      </p:sp>
      <p:sp>
        <p:nvSpPr>
          <p:cNvPr id="378" name="Google Shape;378;p41"/>
          <p:cNvSpPr txBox="1">
            <a:spLocks noGrp="1"/>
          </p:cNvSpPr>
          <p:nvPr>
            <p:ph type="sldNum" idx="12"/>
          </p:nvPr>
        </p:nvSpPr>
        <p:spPr>
          <a:xfrm>
            <a:off x="713075" y="4616554"/>
            <a:ext cx="4557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79" name="Google Shape;379;p41"/>
          <p:cNvSpPr txBox="1">
            <a:spLocks noGrp="1"/>
          </p:cNvSpPr>
          <p:nvPr>
            <p:ph type="subTitle" idx="1"/>
          </p:nvPr>
        </p:nvSpPr>
        <p:spPr>
          <a:xfrm>
            <a:off x="3331775" y="4623854"/>
            <a:ext cx="24804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vision | Pitch deck</a:t>
            </a:r>
            <a:endParaRPr/>
          </a:p>
        </p:txBody>
      </p:sp>
      <p:sp>
        <p:nvSpPr>
          <p:cNvPr id="381" name="Google Shape;381;p41"/>
          <p:cNvSpPr txBox="1">
            <a:spLocks noGrp="1"/>
          </p:cNvSpPr>
          <p:nvPr>
            <p:ph type="subTitle" idx="2"/>
          </p:nvPr>
        </p:nvSpPr>
        <p:spPr>
          <a:xfrm>
            <a:off x="7332925" y="4623854"/>
            <a:ext cx="10980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2026</a:t>
            </a:r>
            <a:endParaRPr dirty="0"/>
          </a:p>
        </p:txBody>
      </p:sp>
      <p:sp>
        <p:nvSpPr>
          <p:cNvPr id="390" name="Google Shape;390;p41"/>
          <p:cNvSpPr/>
          <p:nvPr/>
        </p:nvSpPr>
        <p:spPr>
          <a:xfrm rot="-3253444">
            <a:off x="777114" y="1497536"/>
            <a:ext cx="1492772" cy="1492772"/>
          </a:xfrm>
          <a:prstGeom prst="ellipse">
            <a:avLst/>
          </a:prstGeom>
          <a:gradFill>
            <a:gsLst>
              <a:gs pos="0">
                <a:schemeClr val="accent2">
                  <a:alpha val="20540"/>
                </a:schemeClr>
              </a:gs>
              <a:gs pos="100000">
                <a:srgbClr val="737373">
                  <a:alpha val="0"/>
                  <a:alpha val="2054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41"/>
          <p:cNvSpPr/>
          <p:nvPr/>
        </p:nvSpPr>
        <p:spPr>
          <a:xfrm rot="-6821403" flipH="1">
            <a:off x="3877667" y="1302985"/>
            <a:ext cx="1492576" cy="1492576"/>
          </a:xfrm>
          <a:prstGeom prst="ellipse">
            <a:avLst/>
          </a:prstGeom>
          <a:gradFill>
            <a:gsLst>
              <a:gs pos="0">
                <a:srgbClr val="FFFFFF">
                  <a:alpha val="0"/>
                  <a:alpha val="20540"/>
                </a:srgbClr>
              </a:gs>
              <a:gs pos="100000">
                <a:srgbClr val="CC527A">
                  <a:alpha val="2054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What Is Redis? - Clarkes.Team">
            <a:extLst>
              <a:ext uri="{FF2B5EF4-FFF2-40B4-BE49-F238E27FC236}">
                <a16:creationId xmlns:a16="http://schemas.microsoft.com/office/drawing/2014/main" id="{F732CF15-E583-6F48-603F-9536F5277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727" y="3559762"/>
            <a:ext cx="1795623" cy="1197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ython (programming language) - Wikipedia">
            <a:extLst>
              <a:ext uri="{FF2B5EF4-FFF2-40B4-BE49-F238E27FC236}">
                <a16:creationId xmlns:a16="http://schemas.microsoft.com/office/drawing/2014/main" id="{FF99729A-0BD6-D50E-D812-2DB5DE2BA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038" y="1155912"/>
            <a:ext cx="845023" cy="84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y Next.js Feels Like a Step Backward for the Web | by Umair | JavaScript  in Plain English">
            <a:extLst>
              <a:ext uri="{FF2B5EF4-FFF2-40B4-BE49-F238E27FC236}">
                <a16:creationId xmlns:a16="http://schemas.microsoft.com/office/drawing/2014/main" id="{22AAEE35-CDE0-3032-8D9F-33EF16CD1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311" y="955469"/>
            <a:ext cx="2892213" cy="107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C81202-25EE-258B-0626-8764E652B5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550" y="2087224"/>
            <a:ext cx="1818217" cy="711476"/>
          </a:xfrm>
          <a:prstGeom prst="rect">
            <a:avLst/>
          </a:prstGeom>
        </p:spPr>
      </p:pic>
      <p:pic>
        <p:nvPicPr>
          <p:cNvPr id="1034" name="Picture 10" descr="Weaviate - Battery Ventures">
            <a:extLst>
              <a:ext uri="{FF2B5EF4-FFF2-40B4-BE49-F238E27FC236}">
                <a16:creationId xmlns:a16="http://schemas.microsoft.com/office/drawing/2014/main" id="{7DD28FE9-DA34-D87C-8E36-8644B9869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752" y="3350478"/>
            <a:ext cx="2986099" cy="158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hat is Docker ? How to use it ? - NashTech Blog">
            <a:extLst>
              <a:ext uri="{FF2B5EF4-FFF2-40B4-BE49-F238E27FC236}">
                <a16:creationId xmlns:a16="http://schemas.microsoft.com/office/drawing/2014/main" id="{4928AE1B-8308-4C64-BE4D-37BF0524A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793" y="2312405"/>
            <a:ext cx="2929116" cy="1647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ostgreSQL | SouthEast LinuxFest">
            <a:extLst>
              <a:ext uri="{FF2B5EF4-FFF2-40B4-BE49-F238E27FC236}">
                <a16:creationId xmlns:a16="http://schemas.microsoft.com/office/drawing/2014/main" id="{079C1787-436E-713F-861E-A9E9CBDE9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711" y="2754697"/>
            <a:ext cx="2414064" cy="110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Vercel | Salesforce Ventures">
            <a:extLst>
              <a:ext uri="{FF2B5EF4-FFF2-40B4-BE49-F238E27FC236}">
                <a16:creationId xmlns:a16="http://schemas.microsoft.com/office/drawing/2014/main" id="{184CF94C-86C3-72F4-23D4-878869154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129" y="1183467"/>
            <a:ext cx="3140762" cy="822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56E318-745F-E95C-6ABA-FA37CBDD37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35213" y="1981928"/>
            <a:ext cx="1465580" cy="1465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2"/>
          <p:cNvSpPr txBox="1">
            <a:spLocks noGrp="1"/>
          </p:cNvSpPr>
          <p:nvPr>
            <p:ph type="sldNum" idx="12"/>
          </p:nvPr>
        </p:nvSpPr>
        <p:spPr>
          <a:xfrm>
            <a:off x="713075" y="4616554"/>
            <a:ext cx="4557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98" name="Google Shape;398;p42"/>
          <p:cNvSpPr txBox="1">
            <a:spLocks noGrp="1"/>
          </p:cNvSpPr>
          <p:nvPr>
            <p:ph type="subTitle" idx="1"/>
          </p:nvPr>
        </p:nvSpPr>
        <p:spPr>
          <a:xfrm>
            <a:off x="3331775" y="4623854"/>
            <a:ext cx="24804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vision | Pitch deck</a:t>
            </a:r>
            <a:endParaRPr/>
          </a:p>
        </p:txBody>
      </p:sp>
      <p:sp>
        <p:nvSpPr>
          <p:cNvPr id="399" name="Google Shape;399;p42"/>
          <p:cNvSpPr txBox="1">
            <a:spLocks noGrp="1"/>
          </p:cNvSpPr>
          <p:nvPr>
            <p:ph type="subTitle" idx="2"/>
          </p:nvPr>
        </p:nvSpPr>
        <p:spPr>
          <a:xfrm>
            <a:off x="7332925" y="4623854"/>
            <a:ext cx="10980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2026</a:t>
            </a:r>
            <a:endParaRPr dirty="0"/>
          </a:p>
        </p:txBody>
      </p:sp>
      <p:sp>
        <p:nvSpPr>
          <p:cNvPr id="401" name="Google Shape;401;p42"/>
          <p:cNvSpPr txBox="1">
            <a:spLocks noGrp="1"/>
          </p:cNvSpPr>
          <p:nvPr>
            <p:ph type="title"/>
          </p:nvPr>
        </p:nvSpPr>
        <p:spPr>
          <a:xfrm>
            <a:off x="862089" y="361611"/>
            <a:ext cx="27159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</a:t>
            </a:r>
            <a:endParaRPr dirty="0"/>
          </a:p>
        </p:txBody>
      </p:sp>
      <p:sp>
        <p:nvSpPr>
          <p:cNvPr id="403" name="Google Shape;403;p42"/>
          <p:cNvSpPr/>
          <p:nvPr/>
        </p:nvSpPr>
        <p:spPr>
          <a:xfrm rot="-4377032" flipH="1">
            <a:off x="-182573" y="740079"/>
            <a:ext cx="3036864" cy="3036864"/>
          </a:xfrm>
          <a:prstGeom prst="ellipse">
            <a:avLst/>
          </a:prstGeom>
          <a:gradFill>
            <a:gsLst>
              <a:gs pos="0">
                <a:schemeClr val="accent2">
                  <a:alpha val="20540"/>
                </a:schemeClr>
              </a:gs>
              <a:gs pos="100000">
                <a:srgbClr val="737373">
                  <a:alpha val="0"/>
                  <a:alpha val="2054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324458A-528C-4AD4-9AA2-D5929F9816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732" y="1006292"/>
            <a:ext cx="7613227" cy="3422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5"/>
          <p:cNvSpPr txBox="1">
            <a:spLocks noGrp="1"/>
          </p:cNvSpPr>
          <p:nvPr>
            <p:ph type="title"/>
          </p:nvPr>
        </p:nvSpPr>
        <p:spPr>
          <a:xfrm>
            <a:off x="1388100" y="1019456"/>
            <a:ext cx="6367800" cy="25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/>
          </a:p>
        </p:txBody>
      </p:sp>
      <p:sp>
        <p:nvSpPr>
          <p:cNvPr id="447" name="Google Shape;447;p45"/>
          <p:cNvSpPr txBox="1">
            <a:spLocks noGrp="1"/>
          </p:cNvSpPr>
          <p:nvPr>
            <p:ph type="sldNum" idx="12"/>
          </p:nvPr>
        </p:nvSpPr>
        <p:spPr>
          <a:xfrm>
            <a:off x="713075" y="4616554"/>
            <a:ext cx="4557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448" name="Google Shape;448;p45"/>
          <p:cNvSpPr txBox="1">
            <a:spLocks noGrp="1"/>
          </p:cNvSpPr>
          <p:nvPr>
            <p:ph type="subTitle" idx="1"/>
          </p:nvPr>
        </p:nvSpPr>
        <p:spPr>
          <a:xfrm>
            <a:off x="3331775" y="4623854"/>
            <a:ext cx="24804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vision | Pitch deck</a:t>
            </a:r>
            <a:endParaRPr/>
          </a:p>
        </p:txBody>
      </p:sp>
      <p:sp>
        <p:nvSpPr>
          <p:cNvPr id="449" name="Google Shape;449;p45"/>
          <p:cNvSpPr txBox="1">
            <a:spLocks noGrp="1"/>
          </p:cNvSpPr>
          <p:nvPr>
            <p:ph type="subTitle" idx="2"/>
          </p:nvPr>
        </p:nvSpPr>
        <p:spPr>
          <a:xfrm>
            <a:off x="7332925" y="4623854"/>
            <a:ext cx="1098000" cy="3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duct Vision Pitch Deck by Slidesgo">
  <a:themeElements>
    <a:clrScheme name="Simple Light">
      <a:dk1>
        <a:srgbClr val="373737"/>
      </a:dk1>
      <a:lt1>
        <a:srgbClr val="FFFFFF"/>
      </a:lt1>
      <a:dk2>
        <a:srgbClr val="5B5555"/>
      </a:dk2>
      <a:lt2>
        <a:srgbClr val="A8A7A7"/>
      </a:lt2>
      <a:accent1>
        <a:srgbClr val="E2185B"/>
      </a:accent1>
      <a:accent2>
        <a:srgbClr val="CC527A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On-screen Show (16:9)</PresentationFormat>
  <Paragraphs>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Poppins SemiBold</vt:lpstr>
      <vt:lpstr>Poppins</vt:lpstr>
      <vt:lpstr>Arial</vt:lpstr>
      <vt:lpstr>Product Vision Pitch Deck by Slidesgo</vt:lpstr>
      <vt:lpstr>Vocanta</vt:lpstr>
      <vt:lpstr>Problem vs solution</vt:lpstr>
      <vt:lpstr>Problem vs solution</vt:lpstr>
      <vt:lpstr>Technologies</vt:lpstr>
      <vt:lpstr>Diagram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Kaloyan</dc:creator>
  <cp:lastModifiedBy>Калоян К. Иванов</cp:lastModifiedBy>
  <cp:revision>1</cp:revision>
  <dcterms:modified xsi:type="dcterms:W3CDTF">2026-03-31T06:22:14Z</dcterms:modified>
</cp:coreProperties>
</file>